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ShopEazy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0AEC0"/>
                </a:solidFill>
                <a:latin typeface="Calibri"/>
              </a:defRPr>
            </a:pPr>
            <a:r>
              <a:t>Plateforme e-commerce multi-tenant pour l'Afrique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27432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Créez votre boutique en ligne en 5 minutes — sans carte bancaire, sans codage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Calibri"/>
              </a:defRPr>
            </a:pPr>
            <a:r>
              <a:t>Présentation de la plateforme</a:t>
            </a:r>
          </a:p>
        </p:txBody>
      </p:sp>
      <p:sp>
        <p:nvSpPr>
          <p:cNvPr id="8" name="Oval 7"/>
          <p:cNvSpPr/>
          <p:nvPr/>
        </p:nvSpPr>
        <p:spPr>
          <a:xfrm>
            <a:off x="10515600" y="914400"/>
            <a:ext cx="1097280" cy="109728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0" y="2286000"/>
            <a:ext cx="731520" cy="731520"/>
          </a:xfrm>
          <a:prstGeom prst="ellipse">
            <a:avLst/>
          </a:prstGeom>
          <a:solidFill>
            <a:srgbClr val="34D39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3474720"/>
            <a:ext cx="457200" cy="457200"/>
          </a:xfrm>
          <a:prstGeom prst="ellipse">
            <a:avLst/>
          </a:prstGeom>
          <a:solidFill>
            <a:srgbClr val="6EE7B7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🔴  Complexité technique :  Lancer une boutique en ligne nécessite des compétences en développement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🔴  Paiement international :  Les solutions classiques exigent une carte bancaire et un compte PayPal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🔴  Coût élevé :  Abonnements mensuels (Shopify, WooCommerce) hors de portée pour les petits commerçants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🔴  Marché africain ignoré :  Peu de plateformes adaptées au paiement à la livraison et au mobile money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🔴  Personnalisation limitée :  Les templates standards ne reflètent pas l'identité de la marque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5029200"/>
            <a:ext cx="1188720" cy="1188720"/>
          </a:xfrm>
          <a:prstGeom prst="roundRect">
            <a:avLst/>
          </a:prstGeom>
          <a:solidFill>
            <a:srgbClr val="FE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F2937"/>
                </a:solidFill>
                <a:latin typeface="Calibri"/>
              </a:defRPr>
            </a:pPr>
            <a:r>
              <a:t>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 Solution — ShopEazy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1D5DB"/>
                </a:solidFill>
                <a:latin typeface="Calibri"/>
              </a:defRPr>
            </a:pPr>
            <a:r>
              <a:t>✅  Zero codage requis — Interface visuelle de personnalisation complète</a:t>
            </a:r>
          </a:p>
          <a:p>
            <a:pPr>
              <a:spcAft>
                <a:spcPts val="600"/>
              </a:spcAft>
              <a:defRPr sz="1800">
                <a:solidFill>
                  <a:srgbClr val="D1D5DB"/>
                </a:solidFill>
                <a:latin typeface="Calibri"/>
              </a:defRPr>
            </a:pPr>
            <a:r>
              <a:t>✅  Paiement à la livraison — Pas de carte bancaire nécessaire pour vos clients</a:t>
            </a:r>
          </a:p>
          <a:p>
            <a:pPr>
              <a:spcAft>
                <a:spcPts val="600"/>
              </a:spcAft>
              <a:defRPr sz="1800">
                <a:solidFill>
                  <a:srgbClr val="D1D5DB"/>
                </a:solidFill>
                <a:latin typeface="Calibri"/>
              </a:defRPr>
            </a:pPr>
            <a:r>
              <a:t>✅  Gratuit — Lancez votre boutique sans abonnement mensuel</a:t>
            </a:r>
          </a:p>
          <a:p>
            <a:pPr>
              <a:spcAft>
                <a:spcPts val="600"/>
              </a:spcAft>
              <a:defRPr sz="1800">
                <a:solidFill>
                  <a:srgbClr val="D1D5DB"/>
                </a:solidFill>
                <a:latin typeface="Calibri"/>
              </a:defRPr>
            </a:pPr>
            <a:r>
              <a:t>✅  Mobile Money (prochainement) — Orange Money, Wave, MTN, Moov, Free, Airtel</a:t>
            </a:r>
          </a:p>
          <a:p>
            <a:pPr>
              <a:spcAft>
                <a:spcPts val="600"/>
              </a:spcAft>
              <a:defRPr sz="1800">
                <a:solidFill>
                  <a:srgbClr val="D1D5DB"/>
                </a:solidFill>
                <a:latin typeface="Calibri"/>
              </a:defRPr>
            </a:pPr>
            <a:r>
              <a:t>✅  Multi-tenant — Chaque boutique a son propre sous-domaine et ses données isolées</a:t>
            </a:r>
          </a:p>
          <a:p>
            <a:pPr>
              <a:spcAft>
                <a:spcPts val="600"/>
              </a:spcAft>
              <a:defRPr sz="1800">
                <a:solidFill>
                  <a:srgbClr val="D1D5DB"/>
                </a:solidFill>
                <a:latin typeface="Calibri"/>
              </a:defRPr>
            </a:pPr>
            <a:r>
              <a:t>✅  100% personnalisable — 6 thèmes, 28 sections, couleurs, polices, CSS personnalisé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"Créez votre boutique e-commerce en Afrique en 5 minutes"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28600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Next.js 14</a:t>
            </a:r>
            <a:br/>
            <a:r>
              <a:t>App Router</a:t>
            </a:r>
            <a:br/>
            <a:r>
              <a:t>TypeScript</a:t>
            </a:r>
            <a:br/>
            <a:r>
              <a:t>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28600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Next.js API</a:t>
            </a:r>
            <a:br/>
            <a:r>
              <a:t>Routes</a:t>
            </a:r>
            <a:br/>
            <a:r>
              <a:t>Supabase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645920"/>
            <a:ext cx="228600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Base de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860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Supabase</a:t>
            </a:r>
            <a:br/>
            <a:r>
              <a:t>PostgreSQL</a:t>
            </a:r>
            <a:br/>
            <a:r>
              <a:t>Row Level Security</a:t>
            </a:r>
            <a:br/>
            <a:r>
              <a:t>Realtime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645920"/>
            <a:ext cx="228600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28600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React Native</a:t>
            </a:r>
            <a:br/>
            <a:r>
              <a:t>Expo SDK 54</a:t>
            </a:r>
            <a:br/>
            <a:r>
              <a:t>Notifications</a:t>
            </a:r>
            <a:br/>
            <a:r>
              <a:t>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Intégrations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3200400" cy="10972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Google Sheets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Export automatique des commandes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5303520"/>
            <a:ext cx="3200400" cy="10972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5349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Meta Pixel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669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Tracking navigateur + CAPI serveur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303520"/>
            <a:ext cx="3200400" cy="10972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5349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Facebook/Instagram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669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Catalogue produits synchronisé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Architecture Multi-Tenant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Chaque boutique est isolée via un sous-domaine unique avec ses propres données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Boutique A</a:t>
            </a:r>
            <a:br/>
            <a:r>
              <a:t>sport.shopeazy.com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200400" cy="1828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Boutique B</a:t>
            </a:r>
            <a:br/>
            <a:r>
              <a:t>mode.shopeazy.com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00400" cy="1828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Boutique C</a:t>
            </a:r>
            <a:br/>
            <a:r>
              <a:t>tech.shopeazy.com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572000"/>
            <a:ext cx="3931920" cy="13716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Base de données partagée</a:t>
            </a:r>
            <a:br/>
            <a:r>
              <a:t>shop_slug → isolation RLS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31720" y="4206240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5989320" y="4206240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9646920" y="4206240"/>
            <a:ext cx="36576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Row Level Security (RLS) — Chaque boutique ne voit que ses propres données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Dashboard Administrateur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51760" cy="32004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📊  KPIs en temps réel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Ventes, commandes, visites,</a:t>
            </a:r>
            <a:br/>
            <a:r>
              <a:t>conversion — avec filtres</a:t>
            </a:r>
            <a:br/>
            <a:r>
              <a:t>de 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651760" cy="32004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📦  Gestion des produits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CRUD complet, import CSV,</a:t>
            </a:r>
            <a:br/>
            <a:r>
              <a:t>import par URL, statuts,</a:t>
            </a:r>
            <a:br/>
            <a:r>
              <a:t>recherche, actions groupées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2651760" cy="32004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📋  Gestion des commandes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Workflow statuts, vue détail,</a:t>
            </a:r>
            <a:br/>
            <a:r>
              <a:t>chronologie, notifications</a:t>
            </a:r>
            <a:br/>
            <a:r>
              <a:t>sonores + push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463040"/>
            <a:ext cx="2651760" cy="32004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🎯  Offres promotionnelles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599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Offres groupées, réductions</a:t>
            </a:r>
            <a:br/>
            <a:r>
              <a:t>quantité, % ou montant</a:t>
            </a:r>
            <a:br/>
            <a:r>
              <a:t>fixe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🔧  Paramètres : Pixel Meta, formulaire personnalisé, Google Sheets, devise, pays — tout configurable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Personnalisation Visuelle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15 onglets de configuration — Aucune compétence technique requise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6 Thèmes</a:t>
            </a:r>
            <a:br/>
            <a:r>
              <a:t>prêts à l'emploi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Classique, Minimal, Bold,</a:t>
            </a:r>
            <a:br/>
            <a:r>
              <a:t>Nature, Luxe, Fun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0312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🎨  Couleurs</a:t>
            </a:r>
            <a:br/>
            <a:r>
              <a:t>(19 variables)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Marque, fond/surface, texte,</a:t>
            </a:r>
            <a:br/>
            <a:r>
              <a:t>header/footer, états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0312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🔤  Polices</a:t>
            </a:r>
            <a:br/>
            <a:r>
              <a:t>(20 Google Fonts)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Titres, corps, graisses,</a:t>
            </a:r>
            <a:br/>
            <a:r>
              <a:t>tailles, espacement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10312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🖼️  Arrière-plan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Couleur, dégradé, image</a:t>
            </a:r>
            <a:br/>
            <a:r>
              <a:t>avec position/répétition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103120"/>
            <a:ext cx="20116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📐  Mise en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Largeur conteneur, espacement,</a:t>
            </a:r>
            <a:br/>
            <a:r>
              <a:t>produits par rangée, grille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➕  CSS personnalisé (desktop + mobile)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➕  Import de thème Shopify (JSON / ZIP)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➕  Sauvegarde / export de thèmes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Constructeur de Pages &amp;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28 types de sections — Glisser-déposer — Pages personnalisées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011680" cy="8229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En-tête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Barre d'annonce  •  Header (logo, menu)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20116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546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Carrousel  •  Produits vedettes  •  Texte + Image  •  Vidéo  •  Témoignages  •  FAQ  •  Grille d'features  •  Bannière CTA  •  Compteurs  •  HTML personnalisé  •  Newsletter  •  Espacement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201168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Produit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2062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Fil d'Ariane  •  Galerie d'images  •  Infos + formulaire  •  Accordéon  •  Messagerie confiance  •  Partage réseaux  •  Offre groupée  •  Recherche  •  Filtres  •  Grille produits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2011680" cy="8229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Pied de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257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Footer  •  Merci  •  Wishlist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💡  Chaque section a ses propres réglages (couleurs, textes, images, disposition) et peut contenir des blocs répétables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Boutique en ligne (Front Office)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6459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🏠  Accueil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Page d'accueil dynamique</a:t>
            </a:r>
            <a:br/>
            <a:r>
              <a:t>avec sections personnalisables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828800"/>
            <a:ext cx="16459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📦  Produits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Grille produits avec</a:t>
            </a:r>
            <a:br/>
            <a:r>
              <a:t>recherche, filtres, tri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16459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🔍  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Galerie photos, infos,</a:t>
            </a:r>
            <a:br/>
            <a:r>
              <a:t> formulaire de commande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16459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❤️  Wishlist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Liste de favoris</a:t>
            </a:r>
            <a:br/>
            <a:r>
              <a:t>(panier + commande)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16459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✅  Merci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Confirmation de commande</a:t>
            </a:r>
            <a:br/>
            <a:r>
              <a:t>après achat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1828800"/>
            <a:ext cx="16459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192024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📄  Pages perso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5603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Pages personnalisées</a:t>
            </a:r>
            <a:br/>
            <a:r>
              <a:t>avec le constructeur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1D5DB"/>
                </a:solidFill>
                <a:latin typeface="Calibri"/>
              </a:defRPr>
            </a:pPr>
            <a:r>
              <a:t>📱  Responsive mobile-first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84632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1D5DB"/>
                </a:solidFill>
                <a:latin typeface="Calibri"/>
              </a:defRPr>
            </a:pPr>
            <a:r>
              <a:t>🔒  Paiement à la livraison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84632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1D5DB"/>
                </a:solidFill>
                <a:latin typeface="Calibri"/>
              </a:defRPr>
            </a:pPr>
            <a:r>
              <a:t>📊  Formulaire de commande intégré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84632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1D5DB"/>
                </a:solidFill>
                <a:latin typeface="Calibri"/>
              </a:defRPr>
            </a:pPr>
            <a:r>
              <a:t>🌍  Multi-devises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Processus de Commande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828800" cy="2286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 client</a:t>
            </a:r>
            <a:br/>
            <a:r>
              <a:t>remplit le</a:t>
            </a:r>
            <a:br/>
            <a:r>
              <a:t>formulaire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8288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Commande</a:t>
            </a:r>
            <a:br/>
            <a:r>
              <a:t>enregistrée</a:t>
            </a:r>
            <a:br/>
            <a:r>
              <a:t>en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645920"/>
            <a:ext cx="1828800" cy="2286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Notification</a:t>
            </a:r>
            <a:br/>
            <a:r>
              <a:t>push + son</a:t>
            </a:r>
            <a:br/>
            <a:r>
              <a:t>au vendeur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45920"/>
            <a:ext cx="1828800" cy="2286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Google Sheets</a:t>
            </a:r>
            <a:br/>
            <a:r>
              <a:t>mis à jour</a:t>
            </a:r>
            <a:br/>
            <a:r>
              <a:t>automatiquement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645920"/>
            <a:ext cx="1828800" cy="2286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Vendeur</a:t>
            </a:r>
            <a:br/>
            <a:r>
              <a:t>confirme &amp;</a:t>
            </a:r>
            <a:br/>
            <a:r>
              <a:t>expédie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8880" y="2560320"/>
            <a:ext cx="41148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846320" y="2560320"/>
            <a:ext cx="41148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223760" y="2560320"/>
            <a:ext cx="41148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601200" y="2560320"/>
            <a:ext cx="411480" cy="32004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Moyens de paiement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2011680" cy="10972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9669"/>
                </a:solidFill>
                <a:latin typeface="Calibri"/>
              </a:defRPr>
            </a:pPr>
            <a:r>
              <a:t>💵  Paiement à la livraison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59669"/>
                </a:solidFill>
                <a:latin typeface="Calibri"/>
              </a:defRPr>
            </a:pPr>
            <a:r>
              <a:t>Actif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84632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📱  Orange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À venir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484632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📱  Wave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À venir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84632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📱  MTN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À venir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4846320"/>
            <a:ext cx="2011680" cy="1097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280"/>
                </a:solidFill>
                <a:latin typeface="Calibri"/>
              </a:defRPr>
            </a:pPr>
            <a:r>
              <a:t>📱  Moov / Free / Airtel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À venir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Intégrations &amp; Connecteurs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📊  Google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Export automatique des commandes vers Google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Mapping intelligent des colonnes (français/anglais)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OAuth 2.0 + Service Account (JSON Key)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Connexion en 1 clic depuis les paramètres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📱  Meta / Facebook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Pixel Meta — tracking navigateur + CAPI serveur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Synchronisation du catalogue produits vers Facebook 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Dashboard d'insights (impressions, clics, ROAS)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Instagram Shopping — page et compte instagram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🔄  Shopify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Import de thèmes Shopify (JSON settings_data.json)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5779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Import de thèmes Shopify complets (ZIP)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1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Mapping automatique couleurs, polices, CSS,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•  Migration facilitée depuis Shopify vers ShopEazy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Application Mobile (React Native)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Gérez votre boutique depuis votre téléphone — notifications push en temps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📊  Dashboard</a:t>
            </a:r>
            <a:br/>
            <a: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KPIs et statistiques</a:t>
            </a:r>
            <a:br/>
            <a:r>
              <a:t>optimisés pour mobile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031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📦  Produits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Gestion des produits</a:t>
            </a:r>
            <a:br/>
            <a:r>
              <a:t>depuis le téléphone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031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📋  Commandes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Voir et gérer les</a:t>
            </a:r>
            <a:br/>
            <a:r>
              <a:t>commandes en déplacement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1031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🔔  Notifications</a:t>
            </a:r>
            <a:br/>
            <a: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Alertes instantanées</a:t>
            </a:r>
            <a:br/>
            <a:r>
              <a:t>pour les nouvelles commandes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103120"/>
            <a:ext cx="201168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194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⚙️  Paramètres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alibri"/>
              </a:defRPr>
            </a:pPr>
            <a:r>
              <a:t>Accès rapide aux</a:t>
            </a:r>
            <a:br/>
            <a:r>
              <a:t>réglages de la boutique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📱  Expo SDK 54 •  React Native 0.81 •  NativeWind (Tailwind) •  Supabase Realtime •  Notifications push (Expo Notifications)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Super Admin — 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Administration centrale de toutes les boutiques de la plateforme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4688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🏪  Shops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Liste de toutes</a:t>
            </a:r>
            <a:br/>
            <a:r>
              <a:t>les boutiques</a:t>
            </a:r>
            <a:br/>
            <a:r>
              <a:t>inscrites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4688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📦  Produits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Tous les produits</a:t>
            </a:r>
            <a:br/>
            <a:r>
              <a:t>de la plateforme</a:t>
            </a:r>
            <a:br/>
            <a:r>
              <a:t>centralisés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03120"/>
            <a:ext cx="24688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📋  Commandes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Toutes les commandes</a:t>
            </a:r>
            <a:br/>
            <a:r>
              <a:t>transversales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103120"/>
            <a:ext cx="24688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💰  Revenus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Statistiques globales</a:t>
            </a:r>
            <a:br/>
            <a:r>
              <a:t>(chiffre d'affaires,</a:t>
            </a:r>
            <a:br/>
            <a:r>
              <a:t>commandes, produits)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Sécurité : Row Level Security (RLS) + fonctions SECURITY DEFINER pour l'accès super admin aux données de toutes les boutiques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Modèle Économique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Calibri"/>
              </a:defRPr>
            </a:pPr>
            <a:r>
              <a:t>Actuellement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Plateforme gratuite — pas d'abonnement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Paiement à la livraison (frais 0%)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Import Shopify — migration facilitée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Google Sheets — export automatique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✅  Meta Pixel &amp; CAPI — tracking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Paiement Orange Money, Wave, MTN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Abonnement Premium (thèmes pro, domaines personnalisés)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Application mobile Android &amp; iOS (Play Store / App Store)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Marketplace entre commerçants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Statistiques avancées + IA recommandations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🔜  Multi-langues (anglais, portugais, arabe)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25400" cy="3200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🎯  Vision : Devenir la plateforme e-commerce de référence en Afrique francophone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Merci 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1031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Calibri"/>
              </a:defRPr>
            </a:pPr>
            <a:r>
              <a:t>Des 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ShopEazy — Créez votre boutique e-commerce en Afrique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59669"/>
                </a:solidFill>
                <a:latin typeface="Calibri"/>
              </a:defRPr>
            </a:pPr>
            <a:r>
              <a:t>https://shopeazy.com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5029200"/>
            <a:ext cx="548640" cy="54864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0" y="4114800"/>
            <a:ext cx="365760" cy="36576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5029200"/>
            <a:ext cx="457200" cy="457200"/>
          </a:xfrm>
          <a:prstGeom prst="ellipse">
            <a:avLst/>
          </a:prstGeom>
          <a:solidFill>
            <a:srgbClr val="0596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